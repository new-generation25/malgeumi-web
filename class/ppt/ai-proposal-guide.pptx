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188690"/>
            <a:ext cx="762000" cy="5715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36099" y="1683990"/>
            <a:ext cx="587165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협업 사업 제안서 개발 가이드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2505484" y="2388840"/>
            <a:ext cx="413288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3000"/>
              </a:spcAft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김해시 문화예술단체 활동 지원사업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000500" y="3215580"/>
            <a:ext cx="1143000" cy="190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76050" y="3768030"/>
            <a:ext cx="1791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마감: 2026.1.8(목) 18:00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720304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5427" y="1798439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720304"/>
            <a:ext cx="7869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도와줄 수 있는 영역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7750" y="2177504"/>
            <a:ext cx="78695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도움 가능한 영역 vs 사람이 해야 하는 부분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59273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5427" y="267087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2592735"/>
            <a:ext cx="7869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김해시 공고문 핵심 검토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7750" y="3049935"/>
            <a:ext cx="78695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정보, 지원 한도, 심사 기준, 예산 편성 유의사항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46516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5427" y="354330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3465165"/>
            <a:ext cx="7869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협업 사업 제안서 개발 프로세스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47750" y="3922365"/>
            <a:ext cx="78695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60~90분 4단계 프로세스 상세 안내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0" y="5086350"/>
            <a:ext cx="9144000" cy="5715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389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44574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즉시 도와줄 수 있는 영역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04800" y="1941314"/>
            <a:ext cx="4191000" cy="651421"/>
          </a:xfrm>
          <a:prstGeom prst="roundRect">
            <a:avLst>
              <a:gd name="adj" fmla="val 116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0" y="1941314"/>
            <a:ext cx="0" cy="651421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250" y="2074664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공고문 분석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6250" y="2299395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자격, 심사 기준, 유의사항 핵심 요약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4800" y="2707035"/>
            <a:ext cx="4191000" cy="651421"/>
          </a:xfrm>
          <a:prstGeom prst="roundRect">
            <a:avLst>
              <a:gd name="adj" fmla="val 116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3850" y="2707035"/>
            <a:ext cx="0" cy="651421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250" y="2840385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구체화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6250" y="3065115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막연한 기획을 사업계획서 언어로 번역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4800" y="3472755"/>
            <a:ext cx="4191000" cy="651421"/>
          </a:xfrm>
          <a:prstGeom prst="roundRect">
            <a:avLst>
              <a:gd name="adj" fmla="val 116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3850" y="3472755"/>
            <a:ext cx="0" cy="651421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250" y="3606105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양식 작성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6250" y="3830836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사업계획서 초안, 예산 산출 근거 표 생성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8200" y="1941314"/>
            <a:ext cx="4191000" cy="651421"/>
          </a:xfrm>
          <a:prstGeom prst="roundRect">
            <a:avLst>
              <a:gd name="adj" fmla="val 116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7250" y="1941314"/>
            <a:ext cx="0" cy="651421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9650" y="2074664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검증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19650" y="2299395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공고문 기준표 대비 단가 적정성 검토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48200" y="2707035"/>
            <a:ext cx="4191000" cy="651421"/>
          </a:xfrm>
          <a:prstGeom prst="roundRect">
            <a:avLst>
              <a:gd name="adj" fmla="val 116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67250" y="2707035"/>
            <a:ext cx="0" cy="651421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9650" y="2840385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 다듬기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19650" y="3065115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심사위원 관점에서 설득력 있는 표현 수정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48200" y="3472755"/>
            <a:ext cx="4191000" cy="651421"/>
          </a:xfrm>
          <a:prstGeom prst="roundRect">
            <a:avLst>
              <a:gd name="adj" fmla="val 116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67250" y="3472755"/>
            <a:ext cx="0" cy="651421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9650" y="3606105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 검색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19650" y="3830836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사업 선정 사례, 벤치마킹 자료 조사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389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44574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직접 해야 하는 부분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04800" y="1855440"/>
            <a:ext cx="4191000" cy="779115"/>
          </a:xfrm>
          <a:prstGeom prst="roundRect">
            <a:avLst>
              <a:gd name="adj" fmla="val 9780"/>
            </a:avLst>
          </a:prstGeom>
          <a:solidFill>
            <a:srgbClr val="FFF3CD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5775" y="2036415"/>
            <a:ext cx="39056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창작 의도 결정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85775" y="2293590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공연을 하고 싶은가"는 예술가 본인만 답할 수 있음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48200" y="1855440"/>
            <a:ext cx="4191000" cy="779115"/>
          </a:xfrm>
          <a:prstGeom prst="roundRect">
            <a:avLst>
              <a:gd name="adj" fmla="val 9780"/>
            </a:avLst>
          </a:prstGeom>
          <a:solidFill>
            <a:srgbClr val="FFF3CD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29175" y="2036415"/>
            <a:ext cx="39056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협력 기관 섭외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829175" y="2293590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MOU 체결, 담당자 연락은 직접 수행 필요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4800" y="2786955"/>
            <a:ext cx="4191000" cy="779115"/>
          </a:xfrm>
          <a:prstGeom prst="roundRect">
            <a:avLst>
              <a:gd name="adj" fmla="val 9780"/>
            </a:avLst>
          </a:prstGeom>
          <a:solidFill>
            <a:srgbClr val="FFF3CD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5775" y="2967930"/>
            <a:ext cx="39056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자부담 재원 확보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85775" y="3225105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후원금, 자체 예산 등 실제 자금 마련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8200" y="2786955"/>
            <a:ext cx="4191000" cy="779115"/>
          </a:xfrm>
          <a:prstGeom prst="roundRect">
            <a:avLst>
              <a:gd name="adj" fmla="val 9780"/>
            </a:avLst>
          </a:prstGeom>
          <a:solidFill>
            <a:srgbClr val="FFF3CD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9175" y="2967930"/>
            <a:ext cx="39056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심사 대응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829175" y="3225105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창의적 문화예술 사업은 2차 면접 필수 참석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4800" y="3718471"/>
            <a:ext cx="8534400" cy="491430"/>
          </a:xfrm>
          <a:prstGeom prst="roundRect">
            <a:avLst>
              <a:gd name="adj" fmla="val 15506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3850" y="3718471"/>
            <a:ext cx="0" cy="49143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300" y="3870871"/>
            <a:ext cx="83553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AI는 "어떻게"를 도와주고, "무엇을/왜"는 예술가가 결정합니다.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389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44574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김해시 공고문 기본 정보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04800" y="1606153"/>
            <a:ext cx="4171950" cy="769590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758553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마감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956643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2026.1.8(목) 18:00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4800" y="2490043"/>
            <a:ext cx="4171950" cy="927497"/>
          </a:xfrm>
          <a:prstGeom prst="roundRect">
            <a:avLst>
              <a:gd name="adj" fmla="val 82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642443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기간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40534"/>
            <a:ext cx="394449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2026.3월 ~ 11월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3118545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11.30까지 행사 종료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4800" y="3531840"/>
            <a:ext cx="4171950" cy="927497"/>
          </a:xfrm>
          <a:prstGeom prst="roundRect">
            <a:avLst>
              <a:gd name="adj" fmla="val 82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3684240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접수 방법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882330"/>
            <a:ext cx="394449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접수만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4160341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메일 접수 불가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67250" y="1716584"/>
            <a:ext cx="4171950" cy="952351"/>
          </a:xfrm>
          <a:prstGeom prst="roundRect">
            <a:avLst>
              <a:gd name="adj" fmla="val 800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9650" y="1868984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19650" y="2105174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 분야: 330-3947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19650" y="2329904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시각/문학: 330-3946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7250" y="2783235"/>
            <a:ext cx="4171950" cy="954286"/>
          </a:xfrm>
          <a:prstGeom prst="roundRect">
            <a:avLst>
              <a:gd name="adj" fmla="val 7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9650" y="2935635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사업비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19650" y="3133725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248,800천원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19650" y="3438525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사업 분야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67250" y="3851821"/>
            <a:ext cx="4171950" cy="497086"/>
          </a:xfrm>
          <a:prstGeom prst="roundRect">
            <a:avLst>
              <a:gd name="adj" fmla="val 15329"/>
            </a:avLst>
          </a:prstGeom>
          <a:solidFill>
            <a:srgbClr val="FFF3CD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9175" y="4013746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창의적 문화예술 사업은 2차 면접 심사 (1/14 예정)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389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44574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사업 분야별 지원 한도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04800" y="1455539"/>
            <a:ext cx="8534400" cy="350490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550789"/>
            <a:ext cx="36375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분야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36196" y="1550789"/>
            <a:ext cx="20208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총액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61872" y="1550789"/>
            <a:ext cx="24249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단체별 한도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4800" y="1863179"/>
            <a:ext cx="8534400" cy="331440"/>
          </a:xfrm>
          <a:prstGeom prst="roundRect">
            <a:avLst>
              <a:gd name="adj" fmla="val 1149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725" y="1948904"/>
            <a:ext cx="36287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생활예술단체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37184" y="1948904"/>
            <a:ext cx="20159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40,900천원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58116" y="1948904"/>
            <a:ext cx="24191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400만원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4800" y="2251770"/>
            <a:ext cx="8534400" cy="331440"/>
          </a:xfrm>
          <a:prstGeom prst="roundRect">
            <a:avLst>
              <a:gd name="adj" fmla="val 11495"/>
            </a:avLst>
          </a:prstGeom>
          <a:solidFill>
            <a:srgbClr val="E8F4FD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6725" y="2337495"/>
            <a:ext cx="36287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전문예술법인(단체) *경남도 지정만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37184" y="2337495"/>
            <a:ext cx="20159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35,000천원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58116" y="2337495"/>
            <a:ext cx="24191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700만원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4800" y="2640360"/>
            <a:ext cx="8534400" cy="331440"/>
          </a:xfrm>
          <a:prstGeom prst="roundRect">
            <a:avLst>
              <a:gd name="adj" fmla="val 1149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6725" y="2726085"/>
            <a:ext cx="36287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소규모 지역 문화예술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37184" y="2726085"/>
            <a:ext cx="20159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39,000천원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58116" y="2726085"/>
            <a:ext cx="24191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400만원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4800" y="3028950"/>
            <a:ext cx="8534400" cy="331440"/>
          </a:xfrm>
          <a:prstGeom prst="roundRect">
            <a:avLst>
              <a:gd name="adj" fmla="val 1149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6725" y="3114675"/>
            <a:ext cx="36287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장애인을 위한 문화예술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37184" y="3114675"/>
            <a:ext cx="20159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20,000천원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58116" y="3114675"/>
            <a:ext cx="24191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400만원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4800" y="3417540"/>
            <a:ext cx="8534400" cy="331440"/>
          </a:xfrm>
          <a:prstGeom prst="roundRect">
            <a:avLst>
              <a:gd name="adj" fmla="val 1149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6725" y="3503265"/>
            <a:ext cx="36287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아동, 청소년을 위한 문화예술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37184" y="3503265"/>
            <a:ext cx="20159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46,400천원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58116" y="3503265"/>
            <a:ext cx="24191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400만원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4800" y="3806130"/>
            <a:ext cx="8534400" cy="331440"/>
          </a:xfrm>
          <a:prstGeom prst="roundRect">
            <a:avLst>
              <a:gd name="adj" fmla="val 1149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6725" y="3891855"/>
            <a:ext cx="36287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장르별 예술단체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37184" y="3891855"/>
            <a:ext cx="20159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41,500천원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58116" y="3891855"/>
            <a:ext cx="24191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400만원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4800" y="4194721"/>
            <a:ext cx="8534400" cy="377130"/>
          </a:xfrm>
          <a:prstGeom prst="roundRect">
            <a:avLst>
              <a:gd name="adj" fmla="val 10103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57200" y="4303216"/>
            <a:ext cx="36375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창의적인 문화예술 *2차 면접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36196" y="4303216"/>
            <a:ext cx="20208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36,000천원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1872" y="4289971"/>
            <a:ext cx="24249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2,000만원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389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44574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심사 기준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04800" y="1703338"/>
            <a:ext cx="4171950" cy="2658666"/>
          </a:xfrm>
          <a:prstGeom prst="roundRect">
            <a:avLst>
              <a:gd name="adj" fmla="val 2866"/>
            </a:avLst>
          </a:prstGeom>
          <a:solidFill>
            <a:srgbClr val="D4EDDA"/>
          </a:solidFill>
          <a:ln w="9525">
            <a:solidFill>
              <a:srgbClr val="28A7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5775" y="1884313"/>
            <a:ext cx="3886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 지원 대상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5775" y="2230934"/>
            <a:ext cx="3810000" cy="586532"/>
          </a:xfrm>
          <a:prstGeom prst="roundRect">
            <a:avLst>
              <a:gd name="adj" fmla="val 97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0075" y="2345234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독창성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00075" y="2556570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행사와 차별화되고 독창성이 있는 사업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85775" y="2912715"/>
            <a:ext cx="3810000" cy="586532"/>
          </a:xfrm>
          <a:prstGeom prst="roundRect">
            <a:avLst>
              <a:gd name="adj" fmla="val 97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0075" y="3027015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시민 참여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0075" y="3238351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시민의 직접적인 참여가 있고 수혜도가 높은 사업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5775" y="3594497"/>
            <a:ext cx="3810000" cy="586532"/>
          </a:xfrm>
          <a:prstGeom prst="roundRect">
            <a:avLst>
              <a:gd name="adj" fmla="val 97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0075" y="3708797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소재 (가점)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0075" y="3920133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김해시 역사, 문화 소재 작품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67250" y="1703338"/>
            <a:ext cx="4171950" cy="2658666"/>
          </a:xfrm>
          <a:prstGeom prst="roundRect">
            <a:avLst>
              <a:gd name="adj" fmla="val 2866"/>
            </a:avLst>
          </a:prstGeom>
          <a:solidFill>
            <a:srgbClr val="F8D7DA"/>
          </a:solidFill>
          <a:ln w="9525">
            <a:solidFill>
              <a:srgbClr val="DC35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48225" y="1884313"/>
            <a:ext cx="3886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자제 대상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8225" y="2230934"/>
            <a:ext cx="3810000" cy="586532"/>
          </a:xfrm>
          <a:prstGeom prst="roundRect">
            <a:avLst>
              <a:gd name="adj" fmla="val 97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62525" y="2345234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연례 행사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962525" y="2556570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연주회, 전시회, 발표회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48225" y="2912715"/>
            <a:ext cx="3810000" cy="586532"/>
          </a:xfrm>
          <a:prstGeom prst="roundRect">
            <a:avLst>
              <a:gd name="adj" fmla="val 97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62525" y="3027015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친목 목적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962525" y="3238351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친목, 단체 홍보 행사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48225" y="3594497"/>
            <a:ext cx="3810000" cy="586532"/>
          </a:xfrm>
          <a:prstGeom prst="roundRect">
            <a:avLst>
              <a:gd name="adj" fmla="val 97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62525" y="3708797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참여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962525" y="3920133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행사에 편승해 단순 출연하는 사업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389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44574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편성 유의사항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04800" y="2049810"/>
            <a:ext cx="4551164" cy="1965722"/>
          </a:xfrm>
          <a:prstGeom prst="roundRect">
            <a:avLst>
              <a:gd name="adj" fmla="val 3876"/>
            </a:avLst>
          </a:prstGeom>
          <a:solidFill>
            <a:srgbClr val="F8D7DA"/>
          </a:solidFill>
          <a:ln w="9525">
            <a:solidFill>
              <a:srgbClr val="DC35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2211735"/>
            <a:ext cx="43118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보조금으로 불가능한 항목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6725" y="2512665"/>
            <a:ext cx="4311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단체 대표자 및 가족 명의 사업자 거래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725" y="2748855"/>
            <a:ext cx="4311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대표자/임원진 인건비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725" y="2985046"/>
            <a:ext cx="4311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회의비, 간담회비, 뒤풀이 식대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725" y="3221236"/>
            <a:ext cx="4311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행사 답사비 (교통비, 숙박비)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725" y="3457426"/>
            <a:ext cx="4311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기념품, 업무추진비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725" y="3693616"/>
            <a:ext cx="4311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사진/영상 촬영비 - 자부담 편성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46464" y="2073771"/>
            <a:ext cx="3792736" cy="1312069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89339" y="2216646"/>
            <a:ext cx="35771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인건비 상한선 (창의적 사업)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189339" y="2485132"/>
            <a:ext cx="7124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예술감독(연출)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8311902" y="2485132"/>
            <a:ext cx="3921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150만원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189339" y="2688878"/>
            <a:ext cx="8490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단원(연극/뮤지컬)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8370094" y="2688878"/>
            <a:ext cx="3327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70만원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189339" y="2892623"/>
            <a:ext cx="498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단원(무용)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8370094" y="2892623"/>
            <a:ext cx="3327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50만원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189339" y="3096369"/>
            <a:ext cx="5165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조명 / 음향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049816" y="3096369"/>
            <a:ext cx="6594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/ 100만원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046464" y="3500140"/>
            <a:ext cx="3792736" cy="491430"/>
          </a:xfrm>
          <a:prstGeom prst="roundRect">
            <a:avLst>
              <a:gd name="adj" fmla="val 15506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065514" y="3500140"/>
            <a:ext cx="0" cy="49143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6964" y="3652540"/>
            <a:ext cx="35188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자부담: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보조금의 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이상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필수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389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44574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체크리스트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04800" y="1953667"/>
            <a:ext cx="2047875" cy="579090"/>
          </a:xfrm>
          <a:prstGeom prst="roundRect">
            <a:avLst>
              <a:gd name="adj" fmla="val 9869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625" y="2077492"/>
            <a:ext cx="18362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 단체 1개 사업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8625" y="2275582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신청 불가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66975" y="1953667"/>
            <a:ext cx="2047875" cy="579090"/>
          </a:xfrm>
          <a:prstGeom prst="roundRect">
            <a:avLst>
              <a:gd name="adj" fmla="val 9869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90800" y="2077492"/>
            <a:ext cx="18362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자부담 10% 이상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90800" y="2275582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확보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29150" y="1953667"/>
            <a:ext cx="2047875" cy="579090"/>
          </a:xfrm>
          <a:prstGeom prst="roundRect">
            <a:avLst>
              <a:gd name="adj" fmla="val 9869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52975" y="2077492"/>
            <a:ext cx="18362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 이상 활동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2975" y="2275582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증빙 가능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791325" y="1953667"/>
            <a:ext cx="2047875" cy="579090"/>
          </a:xfrm>
          <a:prstGeom prst="roundRect">
            <a:avLst>
              <a:gd name="adj" fmla="val 9869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15150" y="2077492"/>
            <a:ext cx="18362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김해시 소재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15150" y="2275582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비영리 단체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4800" y="2647057"/>
            <a:ext cx="2047875" cy="579090"/>
          </a:xfrm>
          <a:prstGeom prst="roundRect">
            <a:avLst>
              <a:gd name="adj" fmla="val 9869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28625" y="2770882"/>
            <a:ext cx="18362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3년간 활동 실적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8625" y="2968972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공익적 문화예술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466975" y="2647057"/>
            <a:ext cx="2047875" cy="579090"/>
          </a:xfrm>
          <a:prstGeom prst="roundRect">
            <a:avLst>
              <a:gd name="adj" fmla="val 9869"/>
            </a:avLst>
          </a:prstGeom>
          <a:solidFill>
            <a:srgbClr val="FFF3CD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90800" y="2770882"/>
            <a:ext cx="18362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유료 공연 의무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90800" y="2968972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창의적 사업: 1,000원 이상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29150" y="2647057"/>
            <a:ext cx="2047875" cy="579090"/>
          </a:xfrm>
          <a:prstGeom prst="roundRect">
            <a:avLst>
              <a:gd name="adj" fmla="val 9869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52975" y="2770882"/>
            <a:ext cx="18362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전산 사용 가능자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2975" y="2968972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보탬e 시스템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91325" y="2647057"/>
            <a:ext cx="2047875" cy="579090"/>
          </a:xfrm>
          <a:prstGeom prst="roundRect">
            <a:avLst>
              <a:gd name="adj" fmla="val 9869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15150" y="2770882"/>
            <a:ext cx="18362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정산 마감 준수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15150" y="2968972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종료 후 2개월 내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04800" y="3340447"/>
            <a:ext cx="8534400" cy="733276"/>
          </a:xfrm>
          <a:prstGeom prst="roundRect">
            <a:avLst>
              <a:gd name="adj" fmla="val 1039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57200" y="3492847"/>
            <a:ext cx="8394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서류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457200" y="3761333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지원신청서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81100" y="3761333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단체소개서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05000" y="3761333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사업계획서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28900" y="3761333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고유번호증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52800" y="3761333"/>
            <a:ext cx="4988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정관/회칙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94249" y="3761333"/>
            <a:ext cx="466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회원명부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389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44574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협업 프로세스 전체 흐름 (60~90분)</a:t>
            </a:r>
            <a:endParaRPr lang="en-US" sz="1950" dirty="0"/>
          </a:p>
        </p:txBody>
      </p:sp>
      <p:pic>
        <p:nvPicPr>
          <p:cNvPr id="5" name="Image 0" descr="/tmp/rasterized-gradient-ec38c1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864221"/>
            <a:ext cx="2047875" cy="10132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016621"/>
            <a:ext cx="177793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57200" y="2367111"/>
            <a:ext cx="17779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인터뷰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57200" y="2578447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20분</a:t>
            </a:r>
            <a:endParaRPr lang="en-US" sz="825" dirty="0"/>
          </a:p>
        </p:txBody>
      </p:sp>
      <p:pic>
        <p:nvPicPr>
          <p:cNvPr id="9" name="Image 1" descr="/tmp/rasterized-gradient-8ae9dc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1864221"/>
            <a:ext cx="2047875" cy="10132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19375" y="2016621"/>
            <a:ext cx="177793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2619375" y="2367111"/>
            <a:ext cx="17779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적격성 검증</a:t>
            </a:r>
            <a:endParaRPr lang="en-US" sz="975" dirty="0"/>
          </a:p>
        </p:txBody>
      </p:sp>
      <p:sp>
        <p:nvSpPr>
          <p:cNvPr id="12" name="Text 8"/>
          <p:cNvSpPr/>
          <p:nvPr/>
        </p:nvSpPr>
        <p:spPr>
          <a:xfrm>
            <a:off x="2619375" y="2578447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15분</a:t>
            </a:r>
            <a:endParaRPr lang="en-US" sz="825" dirty="0"/>
          </a:p>
        </p:txBody>
      </p:sp>
      <p:pic>
        <p:nvPicPr>
          <p:cNvPr id="13" name="Image 2" descr="/tmp/rasterized-gradient-b42d76b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1864221"/>
            <a:ext cx="2047875" cy="10132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81550" y="2016621"/>
            <a:ext cx="177793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4781550" y="2367111"/>
            <a:ext cx="17779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초안 생성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4781550" y="2578447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20분</a:t>
            </a:r>
            <a:endParaRPr lang="en-US" sz="825" dirty="0"/>
          </a:p>
        </p:txBody>
      </p:sp>
      <p:pic>
        <p:nvPicPr>
          <p:cNvPr id="17" name="Image 3" descr="/tmp/rasterized-gradient-aaea60f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325" y="1864221"/>
            <a:ext cx="2047875" cy="10132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3725" y="2016621"/>
            <a:ext cx="177793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6943725" y="2367111"/>
            <a:ext cx="17779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예산표 및 점검</a:t>
            </a:r>
            <a:endParaRPr lang="en-US" sz="975" dirty="0"/>
          </a:p>
        </p:txBody>
      </p:sp>
      <p:sp>
        <p:nvSpPr>
          <p:cNvPr id="20" name="Text 14"/>
          <p:cNvSpPr/>
          <p:nvPr/>
        </p:nvSpPr>
        <p:spPr>
          <a:xfrm>
            <a:off x="6943725" y="2578447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15분</a:t>
            </a:r>
            <a:endParaRPr lang="en-US" sz="825" dirty="0"/>
          </a:p>
        </p:txBody>
      </p:sp>
      <p:sp>
        <p:nvSpPr>
          <p:cNvPr id="21" name="Text 15"/>
          <p:cNvSpPr/>
          <p:nvPr/>
        </p:nvSpPr>
        <p:spPr>
          <a:xfrm>
            <a:off x="304800" y="3029843"/>
            <a:ext cx="2047875" cy="565696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428625" y="3153668"/>
            <a:ext cx="18362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산출물</a:t>
            </a:r>
            <a:endParaRPr lang="en-US" sz="825" dirty="0"/>
          </a:p>
        </p:txBody>
      </p:sp>
      <p:sp>
        <p:nvSpPr>
          <p:cNvPr id="23" name="Text 17"/>
          <p:cNvSpPr/>
          <p:nvPr/>
        </p:nvSpPr>
        <p:spPr>
          <a:xfrm>
            <a:off x="428625" y="3338364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요약본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2466975" y="3029843"/>
            <a:ext cx="2047875" cy="565696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2590800" y="3153668"/>
            <a:ext cx="18362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산출물</a:t>
            </a:r>
            <a:endParaRPr lang="en-US" sz="825" dirty="0"/>
          </a:p>
        </p:txBody>
      </p:sp>
      <p:sp>
        <p:nvSpPr>
          <p:cNvPr id="26" name="Text 20"/>
          <p:cNvSpPr/>
          <p:nvPr/>
        </p:nvSpPr>
        <p:spPr>
          <a:xfrm>
            <a:off x="2590800" y="3338364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적격성 체크 + 차별화 전략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4629150" y="3029843"/>
            <a:ext cx="2047875" cy="565696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4752975" y="3153668"/>
            <a:ext cx="18362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산출물</a:t>
            </a:r>
            <a:endParaRPr lang="en-US" sz="825" dirty="0"/>
          </a:p>
        </p:txBody>
      </p:sp>
      <p:sp>
        <p:nvSpPr>
          <p:cNvPr id="29" name="Text 23"/>
          <p:cNvSpPr/>
          <p:nvPr/>
        </p:nvSpPr>
        <p:spPr>
          <a:xfrm>
            <a:off x="4752975" y="3338364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사업계획서 본문 초안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6791325" y="3029843"/>
            <a:ext cx="2047875" cy="565696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6915150" y="3153668"/>
            <a:ext cx="18362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 산출물</a:t>
            </a:r>
            <a:endParaRPr lang="en-US" sz="825" dirty="0"/>
          </a:p>
        </p:txBody>
      </p:sp>
      <p:sp>
        <p:nvSpPr>
          <p:cNvPr id="32" name="Text 26"/>
          <p:cNvSpPr/>
          <p:nvPr/>
        </p:nvSpPr>
        <p:spPr>
          <a:xfrm>
            <a:off x="6915150" y="3338364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예산표 + 제출 체크리스트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304800" y="3747939"/>
            <a:ext cx="8534400" cy="453330"/>
          </a:xfrm>
          <a:prstGeom prst="roundRect">
            <a:avLst>
              <a:gd name="adj" fmla="val 16809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355473" y="3881289"/>
            <a:ext cx="84330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산출물: 제출용 사업계획서 + 예산표 + 단체소개서 초안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389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/ 20분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44574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분야 선택 및 아이디어 인터뷰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04800" y="1446461"/>
            <a:ext cx="4635550" cy="994023"/>
          </a:xfrm>
          <a:prstGeom prst="roundRect">
            <a:avLst>
              <a:gd name="adj" fmla="val 7666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0" y="1446461"/>
            <a:ext cx="0" cy="994023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250" y="1579811"/>
            <a:ext cx="44173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(5분)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76250" y="1810196"/>
            <a:ext cx="44173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공연을 왜 하고 싶으세요?"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76250" y="1985367"/>
            <a:ext cx="44173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"관객이 어떤 경험을 했으면 하세요?"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76250" y="2160538"/>
            <a:ext cx="44173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"김해 시민에게 왜 필요하다고 생각하세요?"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04800" y="2535734"/>
            <a:ext cx="4635550" cy="994023"/>
          </a:xfrm>
          <a:prstGeom prst="roundRect">
            <a:avLst>
              <a:gd name="adj" fmla="val 7666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3850" y="2535734"/>
            <a:ext cx="0" cy="994023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250" y="2669084"/>
            <a:ext cx="44173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(5분)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76250" y="2899470"/>
            <a:ext cx="44173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"구체적인 내용이나 줄거리가 있으신가요?"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6250" y="3074640"/>
            <a:ext cx="44173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"몇 회 공연/전시 예정이세요?"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76250" y="3249811"/>
            <a:ext cx="44173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"예상 관객 수는요?"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04800" y="3625007"/>
            <a:ext cx="4635550" cy="994023"/>
          </a:xfrm>
          <a:prstGeom prst="roundRect">
            <a:avLst>
              <a:gd name="adj" fmla="val 7666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3850" y="3625007"/>
            <a:ext cx="0" cy="994023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250" y="3758357"/>
            <a:ext cx="44173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(5분)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76250" y="3988743"/>
            <a:ext cx="44173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"어디서 진행하실 예정인가요?"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76250" y="4163913"/>
            <a:ext cx="44173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"누구와 함께 만드시나요?"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76250" y="4339084"/>
            <a:ext cx="44173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"협력할 기관이나 단체가 있으신가요?"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130850" y="1841450"/>
            <a:ext cx="3708350" cy="1051173"/>
          </a:xfrm>
          <a:prstGeom prst="roundRect">
            <a:avLst>
              <a:gd name="adj" fmla="val 7249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73725" y="1984325"/>
            <a:ext cx="34910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진행 방식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273725" y="2233761"/>
            <a:ext cx="34910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분야 중 적합한 분야 확인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5273725" y="2418457"/>
            <a:ext cx="34910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순차적 질문으로 아이디어 구체화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273725" y="2603153"/>
            <a:ext cx="34910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모호 시 추가 질문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130850" y="3006923"/>
            <a:ext cx="3708350" cy="657076"/>
          </a:xfrm>
          <a:prstGeom prst="roundRect">
            <a:avLst>
              <a:gd name="adj" fmla="val 11597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64200" y="3140273"/>
            <a:ext cx="35104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5264200" y="3370659"/>
            <a:ext cx="35104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요약본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30850" y="3778300"/>
            <a:ext cx="3708350" cy="445740"/>
          </a:xfrm>
          <a:prstGeom prst="roundRect">
            <a:avLst>
              <a:gd name="adj" fmla="val 17095"/>
            </a:avLst>
          </a:prstGeom>
          <a:solidFill>
            <a:srgbClr val="D4EDDA"/>
          </a:solidFill>
          <a:ln w="9525">
            <a:solidFill>
              <a:srgbClr val="28A7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73725" y="3921175"/>
            <a:ext cx="34910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포스트잇 분류 시간 절약, 모호한 답변 즉시 보완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389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/ 15분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44574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적격성 검증 및 차별화 전략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04800" y="2148780"/>
            <a:ext cx="3973264" cy="176778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2310705"/>
            <a:ext cx="3722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자동 수행 작업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6725" y="2630686"/>
            <a:ext cx="597991" cy="20955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1975" y="2668786"/>
            <a:ext cx="415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자격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9966" y="2662089"/>
            <a:ext cx="15377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공고문 기준 대비 적격 여부 체크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6725" y="2935486"/>
            <a:ext cx="597991" cy="20955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1975" y="2973586"/>
            <a:ext cx="415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제외 사유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59966" y="2966889"/>
            <a:ext cx="14350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제외 사업 11개 항목 대조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6725" y="3240286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1975" y="3278386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적합도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38225" y="3271689"/>
            <a:ext cx="1811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독창성, 시민 수혜도, 지역 기여도 평가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6725" y="3545086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1975" y="3583186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차별화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38225" y="3576489"/>
            <a:ext cx="12944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사업 대비 강조점 제안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468564" y="1835497"/>
            <a:ext cx="4370636" cy="2394347"/>
          </a:xfrm>
          <a:prstGeom prst="roundRect">
            <a:avLst>
              <a:gd name="adj" fmla="val 3182"/>
            </a:avLst>
          </a:prstGeom>
          <a:solidFill>
            <a:srgbClr val="E8F4FD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30489" y="1997422"/>
            <a:ext cx="412772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대화 예시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630489" y="2284958"/>
            <a:ext cx="4046786" cy="1076325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44789" y="2399258"/>
            <a:ext cx="38945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정리된 내용으로 적격성 검토해볼게요.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44789" y="2599283"/>
            <a:ext cx="3894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지원 자격: 충족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44789" y="2761208"/>
            <a:ext cx="3894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분야: 아동청소년 적합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44789" y="2923133"/>
            <a:ext cx="3894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주의: 정기 발표회 성격 - 지원 자제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44789" y="3113633"/>
            <a:ext cx="3894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시민 참여 요소 추가 시 차별화 가능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630489" y="3494633"/>
            <a:ext cx="4046786" cy="573286"/>
          </a:xfrm>
          <a:prstGeom prst="roundRect">
            <a:avLst>
              <a:gd name="adj" fmla="val 9969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44789" y="3608933"/>
            <a:ext cx="38945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44789" y="3807023"/>
            <a:ext cx="38945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적격성 체크리스트 + 차별화 전략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389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/ 20분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44574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사업계획서 초안 생성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04800" y="1477566"/>
            <a:ext cx="4391471" cy="3110359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1639491"/>
            <a:ext cx="41489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공고문 양식에 맞춰 작성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6725" y="1940421"/>
            <a:ext cx="4067621" cy="451396"/>
          </a:xfrm>
          <a:prstGeom prst="roundRect">
            <a:avLst>
              <a:gd name="adj" fmla="val 844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1012" y="1940421"/>
            <a:ext cx="0" cy="451396"/>
          </a:xfrm>
          <a:prstGeom prst="line">
            <a:avLst/>
          </a:prstGeom>
          <a:noFill/>
          <a:ln w="28575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2016621"/>
            <a:ext cx="39643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1-1. 행사명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71500" y="2182267"/>
            <a:ext cx="39643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제안 후 사용자 확정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725" y="2448967"/>
            <a:ext cx="4067621" cy="451396"/>
          </a:xfrm>
          <a:prstGeom prst="roundRect">
            <a:avLst>
              <a:gd name="adj" fmla="val 844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1012" y="2448967"/>
            <a:ext cx="0" cy="451396"/>
          </a:xfrm>
          <a:prstGeom prst="line">
            <a:avLst/>
          </a:prstGeom>
          <a:noFill/>
          <a:ln w="28575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2525167"/>
            <a:ext cx="39643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1-2. 사업목적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71500" y="2690813"/>
            <a:ext cx="39643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내용을 공식 언어로 변환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725" y="2957513"/>
            <a:ext cx="4067621" cy="451396"/>
          </a:xfrm>
          <a:prstGeom prst="roundRect">
            <a:avLst>
              <a:gd name="adj" fmla="val 844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81012" y="2957513"/>
            <a:ext cx="0" cy="451396"/>
          </a:xfrm>
          <a:prstGeom prst="line">
            <a:avLst/>
          </a:prstGeom>
          <a:noFill/>
          <a:ln w="28575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" y="3033713"/>
            <a:ext cx="39643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1-3. 세부내용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71500" y="3199358"/>
            <a:ext cx="39643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+ HOW 정리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6725" y="3466058"/>
            <a:ext cx="4067621" cy="451396"/>
          </a:xfrm>
          <a:prstGeom prst="roundRect">
            <a:avLst>
              <a:gd name="adj" fmla="val 844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1012" y="3466058"/>
            <a:ext cx="0" cy="451396"/>
          </a:xfrm>
          <a:prstGeom prst="line">
            <a:avLst/>
          </a:prstGeom>
          <a:noFill/>
          <a:ln w="28575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" y="3542258"/>
            <a:ext cx="39643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1-4. 시기별 세부계획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71500" y="3707904"/>
            <a:ext cx="39643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간트 차트 형태로 생성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6725" y="3974604"/>
            <a:ext cx="4067621" cy="451396"/>
          </a:xfrm>
          <a:prstGeom prst="roundRect">
            <a:avLst>
              <a:gd name="adj" fmla="val 844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81012" y="3974604"/>
            <a:ext cx="0" cy="451396"/>
          </a:xfrm>
          <a:prstGeom prst="line">
            <a:avLst/>
          </a:prstGeom>
          <a:noFill/>
          <a:ln w="28575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" y="4050804"/>
            <a:ext cx="39643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1-5, 1-6. 실현방안, 기대효과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571500" y="4216450"/>
            <a:ext cx="39643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홍보계획, 성과지표, 파급효과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86771" y="1758553"/>
            <a:ext cx="3952429" cy="681782"/>
          </a:xfrm>
          <a:prstGeom prst="roundRect">
            <a:avLst>
              <a:gd name="adj" fmla="val 11177"/>
            </a:avLst>
          </a:prstGeom>
          <a:solidFill>
            <a:srgbClr val="E8F4FD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29646" y="1901428"/>
            <a:ext cx="37400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수정 프로세스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5029646" y="2150864"/>
            <a:ext cx="37400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초안 - 피드백 - 수정 - 확정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86771" y="2554635"/>
            <a:ext cx="3952429" cy="999827"/>
          </a:xfrm>
          <a:prstGeom prst="roundRect">
            <a:avLst>
              <a:gd name="adj" fmla="val 7621"/>
            </a:avLst>
          </a:prstGeom>
          <a:solidFill>
            <a:srgbClr val="D4EDDA"/>
          </a:solidFill>
          <a:ln w="9525">
            <a:solidFill>
              <a:srgbClr val="28A7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29646" y="2697510"/>
            <a:ext cx="37400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646" y="2914650"/>
            <a:ext cx="37400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워크시트 타이핑 과정 생략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029646" y="3089821"/>
            <a:ext cx="37400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빈칸(보완 필요 사항) 명확히 표시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029646" y="3264991"/>
            <a:ext cx="37400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수정 요청 가능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886771" y="3668762"/>
            <a:ext cx="3952429" cy="638026"/>
          </a:xfrm>
          <a:prstGeom prst="roundRect">
            <a:avLst>
              <a:gd name="adj" fmla="val 11943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20121" y="3802112"/>
            <a:ext cx="37594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5020121" y="4013448"/>
            <a:ext cx="37594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사업계획서 본문 초안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389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/ 15분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44574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예산표 작성 및 최종 점검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04800" y="2022277"/>
            <a:ext cx="4171950" cy="2020937"/>
          </a:xfrm>
          <a:prstGeom prst="roundRect">
            <a:avLst>
              <a:gd name="adj" fmla="val 3771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2184202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자동 작업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6725" y="252695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2485132"/>
            <a:ext cx="22476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항목 배치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공고문 기준표에 맞춰 구성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725" y="278219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2740372"/>
            <a:ext cx="20144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단가 검증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상한선 초과 여부 자동 체크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725" y="303743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2995613"/>
            <a:ext cx="2014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자부담 계산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- 10% 이상 확보 여부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725" y="329267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125" y="3250853"/>
            <a:ext cx="20144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불가 항목 필터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보조금 불가 항목 제외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725" y="3525143"/>
            <a:ext cx="3848100" cy="356146"/>
          </a:xfrm>
          <a:prstGeom prst="roundRect">
            <a:avLst>
              <a:gd name="adj" fmla="val 16047"/>
            </a:avLst>
          </a:prstGeom>
          <a:solidFill>
            <a:srgbClr val="F8D7DA"/>
          </a:solidFill>
          <a:ln w="9525">
            <a:solidFill>
              <a:srgbClr val="DC35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1500" y="3629918"/>
            <a:ext cx="3711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경고 예시: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자부담 6.4% - 10% 미달, 400천원 추가 필요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67250" y="1716732"/>
            <a:ext cx="4171950" cy="1671935"/>
          </a:xfrm>
          <a:prstGeom prst="roundRect">
            <a:avLst>
              <a:gd name="adj" fmla="val 4558"/>
            </a:avLst>
          </a:prstGeom>
          <a:solidFill>
            <a:srgbClr val="E8F4FD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0125" y="1859607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점검 체크리스트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10125" y="2128093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지원한도 이내 (분야별 확인)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10125" y="2322314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자부담 10% 이상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10125" y="2516535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불가 항목 미포함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10125" y="2710755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산출근거 구체적 기재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10125" y="2904976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단가 상한선 준수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10125" y="3099197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행사 종료일 11.30 이전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67250" y="3502968"/>
            <a:ext cx="4171950" cy="845641"/>
          </a:xfrm>
          <a:prstGeom prst="roundRect">
            <a:avLst>
              <a:gd name="adj" fmla="val 9011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00600" y="3636318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800600" y="3866704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예산표 완성본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4055269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전 체크리스트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4536" y="281285"/>
            <a:ext cx="9949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700187" y="696516"/>
            <a:ext cx="174347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spcAft>
                <a:spcPts val="2250"/>
              </a:spcAft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산출물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159645" y="1458516"/>
            <a:ext cx="1091952" cy="1561802"/>
          </a:xfrm>
          <a:prstGeom prst="roundRect">
            <a:avLst>
              <a:gd name="adj" fmla="val 872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43035" y="1649016"/>
            <a:ext cx="72517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343035" y="2098477"/>
            <a:ext cx="7251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지원신청서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343035" y="2536627"/>
            <a:ext cx="7251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12p 양식 작성본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403997" y="1531739"/>
            <a:ext cx="1091952" cy="1415207"/>
          </a:xfrm>
          <a:prstGeom prst="roundRect">
            <a:avLst>
              <a:gd name="adj" fmla="val 872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87387" y="1722239"/>
            <a:ext cx="72517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587387" y="2171700"/>
            <a:ext cx="7251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단체소개서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587387" y="2609850"/>
            <a:ext cx="7251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13p 양식 초안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48349" y="1531739"/>
            <a:ext cx="1091952" cy="1415207"/>
          </a:xfrm>
          <a:prstGeom prst="roundRect">
            <a:avLst>
              <a:gd name="adj" fmla="val 872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1739" y="1722239"/>
            <a:ext cx="72517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831739" y="2171700"/>
            <a:ext cx="7251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사업계획서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831739" y="2609850"/>
            <a:ext cx="7251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분야별 14~16p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892701" y="1631752"/>
            <a:ext cx="1091952" cy="1215182"/>
          </a:xfrm>
          <a:prstGeom prst="roundRect">
            <a:avLst>
              <a:gd name="adj" fmla="val 872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76091" y="1822252"/>
            <a:ext cx="72517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76091" y="2271713"/>
            <a:ext cx="7251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예산표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076091" y="2509838"/>
            <a:ext cx="7251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산출근거 포함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238250" y="3458468"/>
            <a:ext cx="6667500" cy="862757"/>
          </a:xfrm>
          <a:prstGeom prst="roundRect">
            <a:avLst>
              <a:gd name="adj" fmla="val 1104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65885" y="3648968"/>
            <a:ext cx="64122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바로 시작해볼까요?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65885" y="3957489"/>
            <a:ext cx="64122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분야로 신청하실 예정인지, 대략적인 사업 아이디어가 있으시면 말씀해주세요.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2800743" y="4702225"/>
            <a:ext cx="35425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마감: 2026.1.8(목) 18:00 | 문의: 공연 330-3947 / 시각 330-3946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협업 사업 제안서 개발 가이드</dc:title>
  <dc:subject>2026년 김해시 문화예술단체 활동 지원사업</dc:subject>
  <dc:creator>문화예술 컨설팅</dc:creator>
  <cp:lastModifiedBy>문화예술 컨설팅</cp:lastModifiedBy>
  <cp:revision>1</cp:revision>
  <dcterms:created xsi:type="dcterms:W3CDTF">2026-01-02T16:53:24Z</dcterms:created>
  <dcterms:modified xsi:type="dcterms:W3CDTF">2026-01-02T16:53:24Z</dcterms:modified>
</cp:coreProperties>
</file>